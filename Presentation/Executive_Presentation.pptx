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f40d4295-b0fb-4149-86eb-5cded581b27f}">
          <p14:sldIdLst>
            <p14:sldId id="256"/>
          </p14:sldIdLst>
        </p14:section>
        <p14:section name="Context" id="{647258e1-fe9a-33ab-f2ea-c8fcda6dea36}">
          <p14:sldIdLst>
            <p14:sldId id="257"/>
            <p14:sldId id="258"/>
          </p14:sldIdLst>
        </p14:section>
        <p14:section name="Method" id="{cfd85c9d-d198-cf9c-129e-9916c8543023}">
          <p14:sldIdLst>
            <p14:sldId id="259"/>
          </p14:sldIdLst>
        </p14:section>
        <p14:section name="Results" id="{3a31c12d-9982-4055-9d52-36385b32a4b4}">
          <p14:sldIdLst>
            <p14:sldId id="260"/>
          </p14:sldIdLst>
        </p14:section>
        <p14:section name="Dashboards" id="{fc0bd8db-c7a5-f16c-b4f8-e7d958818ee9}">
          <p14:sldIdLst>
            <p14:sldId id="261"/>
            <p14:sldId id="262"/>
            <p14:sldId id="263"/>
          </p14:sldIdLst>
        </p14:section>
        <p14:section name="Insights" id="{ed8d2144-9fab-5bb9-d9e7-fc85e0abcf3a}">
          <p14:sldIdLst>
            <p14:sldId id="264"/>
            <p14:sldId id="265"/>
            <p14:sldId id="266"/>
          </p14:sldIdLst>
        </p14:section>
        <p14:section name="Recommendations" id="{740080a6-1120-8245-4475-9e2ab17df255}">
          <p14:sldIdLst>
            <p14:sldId id="267"/>
            <p14:sldId id="268"/>
          </p14:sldIdLst>
        </p14:section>
        <p14:section name="Close" id="{a462a4ec-d71f-ce00-9dbe-880788b72634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F2937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1F2937"/>
                </a:solidFill>
                <a:latin typeface="+mn-lt"/>
              </a:rPr>
              <a:t>Revenue by category (₦M)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(₦M)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Fashion</c:v>
                  </c:pt>
                  <c:pt idx="1">
                    <c:v>Food</c:v>
                  </c:pt>
                  <c:pt idx="2">
                    <c:v>Electronics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5.41</c:v>
                </c:pt>
                <c:pt idx="1">
                  <c:v>4.74</c:v>
                </c:pt>
                <c:pt idx="2">
                  <c:v>4.29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F2937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1F2937"/>
                </a:solidFill>
                <a:latin typeface="+mn-lt"/>
              </a:rPr>
              <a:t>Monthly revenue (₦M)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(₦M)</c:v>
                </c:pt>
              </c:strCache>
            </c:strRef>
          </c:tx>
          <c:spPr>
            <a:solidFill>
              <a:srgbClr val="1F3A5F"/>
            </a:solidFill>
            <a:ln w="38100" cap="flat">
              <a:solidFill>
                <a:srgbClr val="1F3A5F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F3A5F"/>
              </a:solidFill>
              <a:ln w="9525" cap="flat">
                <a:solidFill>
                  <a:srgbClr val="1F3A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Sep*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1.63</c:v>
                </c:pt>
                <c:pt idx="1">
                  <c:v>1.7</c:v>
                </c:pt>
                <c:pt idx="2">
                  <c:v>1.75</c:v>
                </c:pt>
                <c:pt idx="3">
                  <c:v>1.8</c:v>
                </c:pt>
                <c:pt idx="4">
                  <c:v>1.84</c:v>
                </c:pt>
                <c:pt idx="5">
                  <c:v>1.77</c:v>
                </c:pt>
                <c:pt idx="6">
                  <c:v>1.54</c:v>
                </c:pt>
                <c:pt idx="7">
                  <c:v>2.03</c:v>
                </c:pt>
                <c:pt idx="8">
                  <c:v>0.38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9DC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F2937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1F2937"/>
                </a:solidFill>
                <a:latin typeface="+mn-lt"/>
              </a:rPr>
              <a:t>Orders by status (5,000)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D9E75"/>
              </a:solidFill>
              <a:effectLst/>
            </c:spPr>
          </c:dPt>
          <c:dPt>
            <c:idx val="1"/>
            <c:bubble3D val="0"/>
            <c:spPr>
              <a:solidFill>
                <a:srgbClr val="EF9F27"/>
              </a:solidFill>
              <a:effectLst/>
            </c:spPr>
          </c:dPt>
          <c:dPt>
            <c:idx val="2"/>
            <c:bubble3D val="0"/>
            <c:spPr>
              <a:solidFill>
                <a:srgbClr val="E24B4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Delivered</c:v>
                </c:pt>
                <c:pt idx="1">
                  <c:v>Pending</c:v>
                </c:pt>
                <c:pt idx="2">
                  <c:v>Cancelled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1658</c:v>
                </c:pt>
                <c:pt idx="1">
                  <c:v>1716</c:v>
                </c:pt>
                <c:pt idx="2">
                  <c:v>1626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F2937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1F2937"/>
                </a:solidFill>
                <a:latin typeface="+mn-lt"/>
              </a:rPr>
              <a:t>Returns by reason (500 returns)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Returns</c:v>
                </c:pt>
              </c:strCache>
            </c:strRef>
          </c:tx>
          <c:spPr>
            <a:solidFill>
              <a:srgbClr val="E24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Late Delivery</c:v>
                  </c:pt>
                  <c:pt idx="1">
                    <c:v>Wrong Item</c:v>
                  </c:pt>
                  <c:pt idx="2">
                    <c:v>Damaged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185</c:v>
                </c:pt>
                <c:pt idx="1">
                  <c:v>163</c:v>
                </c:pt>
                <c:pt idx="2">
                  <c:v>152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five-page Power BI solution for SwiftLog Logistics Limited. The headline number is the on-time delivery rate of 12.22%.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SwiftLog runs 15 warehouses and serves four cities. The data covers January to 8 September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eight business objectives from the brief. Each one maps to at least one dashboard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stages. Stress the two decisions: how revenue is calculated and how on-time is defined.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Green is healthy, red needs attention. The three red KPIs are on-time delivery, return rate and inventory turnover.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the executive page first, then click a month to show cross-filtering. Then move to the customers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inventory page, move the capacity slider to show utilisation changing. On the delivery page, point out that delay is similar in every 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the supplier gap. Inventing a score would risk wrong decisions about real suppliers.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Demand is healthy and spread widely. August is the peak. September is low only because the data stops on 8 September.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about a third of orders are delivered. Total revenue includes pending orders, so about half of it is not yet delivered.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Late Delivery is the most common return reason at 37%, so fixing delivery should also reduce returns.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twelve cover delivery, warehouse efficiency, cancellations, backlog, inventory, stock balance, staffing, returns, data quality, suppliers, retention and growth.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figures are proposals for management to set targets against, not forecasts.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returning to the headline number, then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to edit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Click to edit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SwiftLog Logistics Analytics  |  AnalystLab Africa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to edit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82296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to edit</a:t>
            </a: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SwiftLog Logistics Supply Chain Analytics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Executive presentation  |  Week 5, Data Analytics track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Olabisi Amusan  |  AnalystLab Africa Experience Lab</a:t>
            </a:r>
            <a:endParaRPr lang="en-US" sz="2000" dirty="0"/>
          </a:p>
        </p:txBody>
      </p:sp>
      <p:sp>
        <p:nvSpPr>
          <p:cNvPr id="4" name="motif circle"/>
          <p:cNvSpPr/>
          <p:nvPr/>
        </p:nvSpPr>
        <p:spPr>
          <a:xfrm>
            <a:off x="9692640" y="640080"/>
            <a:ext cx="1737360" cy="1737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92640" y="11430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12.22%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9692640" y="1645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on time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SwiftLog at a glance</a:t>
            </a:r>
            <a:endParaRPr lang="en-US" sz="3400" dirty="0"/>
          </a:p>
        </p:txBody>
      </p:sp>
      <p:sp>
        <p:nvSpPr>
          <p:cNvPr id="3" name="overview card 1"/>
          <p:cNvSpPr/>
          <p:nvPr/>
        </p:nvSpPr>
        <p:spPr>
          <a:xfrm>
            <a:off x="548640" y="1463040"/>
            <a:ext cx="260604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423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warehouses (Lagos 8, Abuja 4, Kano 3)</a:t>
            </a:r>
            <a:endParaRPr lang="en-US" sz="1400" dirty="0"/>
          </a:p>
        </p:txBody>
      </p:sp>
      <p:sp>
        <p:nvSpPr>
          <p:cNvPr id="6" name="overview card 2"/>
          <p:cNvSpPr/>
          <p:nvPr/>
        </p:nvSpPr>
        <p:spPr>
          <a:xfrm>
            <a:off x="3337560" y="1463040"/>
            <a:ext cx="260604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1691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423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customer cities: Ibadan, Kano, Lagos, Abuja</a:t>
            </a:r>
            <a:endParaRPr lang="en-US" sz="1400" dirty="0"/>
          </a:p>
        </p:txBody>
      </p:sp>
      <p:sp>
        <p:nvSpPr>
          <p:cNvPr id="9" name="overview card 3"/>
          <p:cNvSpPr/>
          <p:nvPr/>
        </p:nvSpPr>
        <p:spPr>
          <a:xfrm>
            <a:off x="6126480" y="1463040"/>
            <a:ext cx="260604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1691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423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orders from 1 Jan to 8 Sep 2026</a:t>
            </a:r>
            <a:endParaRPr lang="en-US" sz="1400" dirty="0"/>
          </a:p>
        </p:txBody>
      </p:sp>
      <p:sp>
        <p:nvSpPr>
          <p:cNvPr id="12" name="overview card 4"/>
          <p:cNvSpPr/>
          <p:nvPr/>
        </p:nvSpPr>
        <p:spPr>
          <a:xfrm>
            <a:off x="8915400" y="1463040"/>
            <a:ext cx="260604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0" y="1691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₦14.44M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0" y="2423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revenue from non-cancelled orders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931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38912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Rapid growth has brought delayed deliveries and inventory imbalances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Supplier performance is inconsistent and returns are rising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Management has limited visibility into key metrics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06640" y="438912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2"/>
                </a:solidFill>
              </a:rPr>
              <a:t>Our answer: a five-page Power BI solution that turns 11 raw files into one executive view.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400" dirty="0"/>
          </a:p>
        </p:txBody>
      </p:sp>
      <p:sp>
        <p:nvSpPr>
          <p:cNvPr id="3" name="number circle 1"/>
          <p:cNvSpPr/>
          <p:nvPr/>
        </p:nvSpPr>
        <p:spPr>
          <a:xfrm>
            <a:off x="548640" y="14630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4630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Monitor business performance</a:t>
            </a:r>
            <a:endParaRPr lang="en-US" sz="2000" dirty="0"/>
          </a:p>
        </p:txBody>
      </p:sp>
      <p:sp>
        <p:nvSpPr>
          <p:cNvPr id="6" name="number circle 2"/>
          <p:cNvSpPr/>
          <p:nvPr/>
        </p:nvSpPr>
        <p:spPr>
          <a:xfrm>
            <a:off x="6217920" y="14630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14630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Improve delivery efficiency</a:t>
            </a:r>
            <a:endParaRPr lang="en-US" sz="2000" dirty="0"/>
          </a:p>
        </p:txBody>
      </p:sp>
      <p:sp>
        <p:nvSpPr>
          <p:cNvPr id="9" name="number circle 3"/>
          <p:cNvSpPr/>
          <p:nvPr/>
        </p:nvSpPr>
        <p:spPr>
          <a:xfrm>
            <a:off x="548640" y="26060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6060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Reduce operational costs</a:t>
            </a:r>
            <a:endParaRPr lang="en-US" sz="2000" dirty="0"/>
          </a:p>
        </p:txBody>
      </p:sp>
      <p:sp>
        <p:nvSpPr>
          <p:cNvPr id="12" name="number circle 4"/>
          <p:cNvSpPr/>
          <p:nvPr/>
        </p:nvSpPr>
        <p:spPr>
          <a:xfrm>
            <a:off x="6217920" y="26060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26060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Improve inventory management</a:t>
            </a:r>
            <a:endParaRPr lang="en-US" sz="2000" dirty="0"/>
          </a:p>
        </p:txBody>
      </p:sp>
      <p:sp>
        <p:nvSpPr>
          <p:cNvPr id="15" name="number circle 5"/>
          <p:cNvSpPr/>
          <p:nvPr/>
        </p:nvSpPr>
        <p:spPr>
          <a:xfrm>
            <a:off x="548640" y="37490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749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7490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Evaluate supplier performance</a:t>
            </a:r>
            <a:endParaRPr lang="en-US" sz="2000" dirty="0"/>
          </a:p>
        </p:txBody>
      </p:sp>
      <p:sp>
        <p:nvSpPr>
          <p:cNvPr id="18" name="number circle 6"/>
          <p:cNvSpPr/>
          <p:nvPr/>
        </p:nvSpPr>
        <p:spPr>
          <a:xfrm>
            <a:off x="6217920" y="37490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3749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37490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Improve warehouse operations</a:t>
            </a:r>
            <a:endParaRPr lang="en-US" sz="2000" dirty="0"/>
          </a:p>
        </p:txBody>
      </p:sp>
      <p:sp>
        <p:nvSpPr>
          <p:cNvPr id="21" name="number circle 7"/>
          <p:cNvSpPr/>
          <p:nvPr/>
        </p:nvSpPr>
        <p:spPr>
          <a:xfrm>
            <a:off x="548640" y="48920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892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48920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Reduce product returns</a:t>
            </a:r>
            <a:endParaRPr lang="en-US" sz="2000" dirty="0"/>
          </a:p>
        </p:txBody>
      </p:sp>
      <p:sp>
        <p:nvSpPr>
          <p:cNvPr id="24" name="number circle 8"/>
          <p:cNvSpPr/>
          <p:nvPr/>
        </p:nvSpPr>
        <p:spPr>
          <a:xfrm>
            <a:off x="6217920" y="48920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4892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48920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Support executive decisions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data was prepared</a:t>
            </a:r>
            <a:endParaRPr lang="en-US" sz="3400" dirty="0"/>
          </a:p>
        </p:txBody>
      </p:sp>
      <p:sp>
        <p:nvSpPr>
          <p:cNvPr id="3" name="step card 1"/>
          <p:cNvSpPr/>
          <p:nvPr/>
        </p:nvSpPr>
        <p:spPr>
          <a:xfrm>
            <a:off x="548640" y="1371600"/>
            <a:ext cx="2606040" cy="3200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circle 1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00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11 CSV files loaded into Power BI</a:t>
            </a:r>
            <a:endParaRPr lang="en-US" sz="1400" dirty="0"/>
          </a:p>
        </p:txBody>
      </p:sp>
      <p:sp>
        <p:nvSpPr>
          <p:cNvPr id="8" name="step card 2"/>
          <p:cNvSpPr/>
          <p:nvPr/>
        </p:nvSpPr>
        <p:spPr>
          <a:xfrm>
            <a:off x="3337560" y="1371600"/>
            <a:ext cx="2606040" cy="3200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ep circle 2"/>
          <p:cNvSpPr/>
          <p:nvPr/>
        </p:nvSpPr>
        <p:spPr>
          <a:xfrm>
            <a:off x="356616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251960" y="1600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33172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Types set, dates parsed, text trimmed, Month, Quarter and Year added, 3 duplicate inventory rows removed, repeated stock rows summed</a:t>
            </a:r>
            <a:endParaRPr lang="en-US" sz="1400" dirty="0"/>
          </a:p>
        </p:txBody>
      </p:sp>
      <p:sp>
        <p:nvSpPr>
          <p:cNvPr id="13" name="step card 3"/>
          <p:cNvSpPr/>
          <p:nvPr/>
        </p:nvSpPr>
        <p:spPr>
          <a:xfrm>
            <a:off x="6126480" y="1371600"/>
            <a:ext cx="2606040" cy="3200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tep circle 3"/>
          <p:cNvSpPr/>
          <p:nvPr/>
        </p:nvSpPr>
        <p:spPr>
          <a:xfrm>
            <a:off x="635508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040880" y="1600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33172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Star-style relationships across Customers, Orders, Order_Items, Products, Shipments, Delivery_Performance, Warehouses, Inventory, Employees and Returns</a:t>
            </a:r>
            <a:endParaRPr lang="en-US" sz="1400" dirty="0"/>
          </a:p>
        </p:txBody>
      </p:sp>
      <p:sp>
        <p:nvSpPr>
          <p:cNvPr id="18" name="step card 4"/>
          <p:cNvSpPr/>
          <p:nvPr/>
        </p:nvSpPr>
        <p:spPr>
          <a:xfrm>
            <a:off x="8915400" y="1371600"/>
            <a:ext cx="2606040" cy="3200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tep circle 4"/>
          <p:cNvSpPr/>
          <p:nvPr/>
        </p:nvSpPr>
        <p:spPr>
          <a:xfrm>
            <a:off x="914400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829800" y="1600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0" y="233172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25+ DAX measures for revenue, delivery, inventory, returns and retention</a:t>
            </a:r>
            <a:endParaRPr lang="en-US" sz="1400" dirty="0"/>
          </a:p>
        </p:txBody>
      </p:sp>
      <p:sp>
        <p:nvSpPr>
          <p:cNvPr id="23" name="key decision card"/>
          <p:cNvSpPr/>
          <p:nvPr/>
        </p:nvSpPr>
        <p:spPr>
          <a:xfrm>
            <a:off x="548640" y="4846320"/>
            <a:ext cx="11064240" cy="1234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493776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Key decisions: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Revenue = Quantity × UnitPrice, excluding cancelled orders. A shipment is On Time only when DelayDays is 0, because the source Status column contradicts DelayDays on 1,203 shipments.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summary</a:t>
            </a:r>
            <a:endParaRPr lang="en-US" sz="3400" dirty="0"/>
          </a:p>
        </p:txBody>
      </p:sp>
      <p:sp>
        <p:nvSpPr>
          <p:cNvPr id="3" name="kpi card 1"/>
          <p:cNvSpPr/>
          <p:nvPr/>
        </p:nvSpPr>
        <p:spPr>
          <a:xfrm>
            <a:off x="548640" y="1463040"/>
            <a:ext cx="210312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828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₦14.44M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Total revenue</a:t>
            </a:r>
            <a:endParaRPr lang="en-US" sz="1400" dirty="0"/>
          </a:p>
        </p:txBody>
      </p:sp>
      <p:sp>
        <p:nvSpPr>
          <p:cNvPr id="6" name="kpi card 2"/>
          <p:cNvSpPr/>
          <p:nvPr/>
        </p:nvSpPr>
        <p:spPr>
          <a:xfrm>
            <a:off x="2798064" y="1463040"/>
            <a:ext cx="210312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35224" y="1828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2935224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Total orders</a:t>
            </a:r>
            <a:endParaRPr lang="en-US" sz="1400" dirty="0"/>
          </a:p>
        </p:txBody>
      </p:sp>
      <p:sp>
        <p:nvSpPr>
          <p:cNvPr id="9" name="kpi card 3"/>
          <p:cNvSpPr/>
          <p:nvPr/>
        </p:nvSpPr>
        <p:spPr>
          <a:xfrm>
            <a:off x="5047488" y="1463040"/>
            <a:ext cx="210312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84648" y="1828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991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5184648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Customers</a:t>
            </a:r>
            <a:endParaRPr lang="en-US" sz="1400" dirty="0"/>
          </a:p>
        </p:txBody>
      </p:sp>
      <p:sp>
        <p:nvSpPr>
          <p:cNvPr id="12" name="kpi card 4"/>
          <p:cNvSpPr/>
          <p:nvPr/>
        </p:nvSpPr>
        <p:spPr>
          <a:xfrm>
            <a:off x="7296912" y="1463040"/>
            <a:ext cx="210312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34072" y="1828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₦4.28K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7434072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Average order value</a:t>
            </a:r>
            <a:endParaRPr lang="en-US" sz="1400" dirty="0"/>
          </a:p>
        </p:txBody>
      </p:sp>
      <p:sp>
        <p:nvSpPr>
          <p:cNvPr id="15" name="kpi card 5"/>
          <p:cNvSpPr/>
          <p:nvPr/>
        </p:nvSpPr>
        <p:spPr>
          <a:xfrm>
            <a:off x="9546336" y="1463040"/>
            <a:ext cx="210312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83496" y="1828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95.96%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9683496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Repeat customers</a:t>
            </a:r>
            <a:endParaRPr lang="en-US" sz="1400" dirty="0"/>
          </a:p>
        </p:txBody>
      </p:sp>
      <p:sp>
        <p:nvSpPr>
          <p:cNvPr id="18" name="kpi card 6"/>
          <p:cNvSpPr/>
          <p:nvPr/>
        </p:nvSpPr>
        <p:spPr>
          <a:xfrm>
            <a:off x="548640" y="3703320"/>
            <a:ext cx="210312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40690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12.22%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892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On-time delivery</a:t>
            </a:r>
            <a:endParaRPr lang="en-US" sz="1400" dirty="0"/>
          </a:p>
        </p:txBody>
      </p:sp>
      <p:sp>
        <p:nvSpPr>
          <p:cNvPr id="21" name="kpi card 7"/>
          <p:cNvSpPr/>
          <p:nvPr/>
        </p:nvSpPr>
        <p:spPr>
          <a:xfrm>
            <a:off x="2798064" y="3703320"/>
            <a:ext cx="210312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935224" y="40690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3.57 days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2935224" y="4892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Average delay</a:t>
            </a:r>
            <a:endParaRPr lang="en-US" sz="1400" dirty="0"/>
          </a:p>
        </p:txBody>
      </p:sp>
      <p:sp>
        <p:nvSpPr>
          <p:cNvPr id="24" name="kpi card 8"/>
          <p:cNvSpPr/>
          <p:nvPr/>
        </p:nvSpPr>
        <p:spPr>
          <a:xfrm>
            <a:off x="5047488" y="3703320"/>
            <a:ext cx="210312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84648" y="40690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9.46%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5184648" y="4892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Return rate</a:t>
            </a:r>
            <a:endParaRPr lang="en-US" sz="1400" dirty="0"/>
          </a:p>
        </p:txBody>
      </p:sp>
      <p:sp>
        <p:nvSpPr>
          <p:cNvPr id="27" name="kpi card 9"/>
          <p:cNvSpPr/>
          <p:nvPr/>
        </p:nvSpPr>
        <p:spPr>
          <a:xfrm>
            <a:off x="7296912" y="3703320"/>
            <a:ext cx="210312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34072" y="40690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1,006,935</a:t>
            </a:r>
            <a:endParaRPr lang="en-US" sz="2800" dirty="0"/>
          </a:p>
        </p:txBody>
      </p:sp>
      <p:sp>
        <p:nvSpPr>
          <p:cNvPr id="29" name="Text 27"/>
          <p:cNvSpPr txBox="1"/>
          <p:nvPr/>
        </p:nvSpPr>
        <p:spPr>
          <a:xfrm>
            <a:off x="7434072" y="4892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Units in stock</a:t>
            </a:r>
            <a:endParaRPr lang="en-US" sz="1400" dirty="0"/>
          </a:p>
        </p:txBody>
      </p:sp>
      <p:sp>
        <p:nvSpPr>
          <p:cNvPr id="30" name="kpi card 10"/>
          <p:cNvSpPr/>
          <p:nvPr/>
        </p:nvSpPr>
        <p:spPr>
          <a:xfrm>
            <a:off x="9546336" y="3703320"/>
            <a:ext cx="210312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683496" y="40690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0.08</a:t>
            </a:r>
            <a:endParaRPr lang="en-US" sz="2800" dirty="0"/>
          </a:p>
        </p:txBody>
      </p:sp>
      <p:sp>
        <p:nvSpPr>
          <p:cNvPr id="32" name="Text 30"/>
          <p:cNvSpPr txBox="1"/>
          <p:nvPr/>
        </p:nvSpPr>
        <p:spPr>
          <a:xfrm>
            <a:off x="9683496" y="4892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Inventory turnover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and customer dashboards</a:t>
            </a:r>
            <a:endParaRPr lang="en-US" sz="3400" dirty="0"/>
          </a:p>
        </p:txBody>
      </p:sp>
      <p:pic>
        <p:nvPicPr>
          <p:cNvPr id="3" name="executive dashboard screenshot" descr="Executive dashboard page with KPI cards and four char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40680" cy="3063240"/>
          </a:xfrm>
          <a:prstGeom prst="rect">
            <a:avLst/>
          </a:prstGeom>
        </p:spPr>
      </p:pic>
      <p:pic>
        <p:nvPicPr>
          <p:cNvPr id="4" name="customers dashboard screenshot" descr="Customer analytics page with top customers and order frequenc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371600"/>
            <a:ext cx="5440680" cy="30632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4709160"/>
            <a:ext cx="5440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Executive: revenue peaks in August, only 12% of shipments arrive on time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Slicers for year, month, city and category filter every visual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6199632" y="4709160"/>
            <a:ext cx="5440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Customers: 96% order more than once, and revenue is not concentrated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Top 10 customers earn only 3.3% of revenue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and delivery dashboards</a:t>
            </a:r>
            <a:endParaRPr lang="en-US" sz="3400" dirty="0"/>
          </a:p>
        </p:txBody>
      </p:sp>
      <p:pic>
        <p:nvPicPr>
          <p:cNvPr id="3" name="inventory dashboard screenshot" descr="Inventory and warehouse page with stock, capacity and low stock produc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40680" cy="3588534"/>
          </a:xfrm>
          <a:prstGeom prst="rect">
            <a:avLst/>
          </a:prstGeom>
        </p:spPr>
      </p:pic>
      <p:pic>
        <p:nvPicPr>
          <p:cNvPr id="4" name="delivery dashboard screenshot" descr="Shipment and delivery page with status, delay by city and tren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371600"/>
            <a:ext cx="5440680" cy="327497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029200"/>
            <a:ext cx="5440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Inventory: 264 product lines hold fewer than 100 units, turnover is 0.08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Warehouse capacity uses a What-If slider because capacity is not in the data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6199632" y="5029200"/>
            <a:ext cx="5440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Delivery: 4,389 of 5,000 shipments arrive late, in every city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Average delay is 3.47 to 3.64 days across the four cities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Supplier and product view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56692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67512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6675120" y="182880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Fashion leads with 37.5% of revenue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Top products: P085 (₦143K), P040 (₦131K), P025 (₦123K)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Top 10 products make up only 8.4% of revenue</a:t>
            </a:r>
            <a:endParaRPr lang="en-US" sz="1500" dirty="0"/>
          </a:p>
        </p:txBody>
      </p:sp>
      <p:sp>
        <p:nvSpPr>
          <p:cNvPr id="6" name="supplier note card"/>
          <p:cNvSpPr/>
          <p:nvPr/>
        </p:nvSpPr>
        <p:spPr>
          <a:xfrm>
            <a:off x="6675120" y="3840480"/>
            <a:ext cx="4937760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0" y="393192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Suppliers: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performance cannot be scored. Products and Shipments have no SupplierID, so no supplier can be linked to a delay. The 150 suppliers are listed and the gap is a recommendation.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is steady and peaks in August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978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* September covers 1 to 8 Sep only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046720" y="13716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654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2103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orders in August, the peak month (₦2.03M revenue)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28346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37.5%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3566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of revenue comes from Fashion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42976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96%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5029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of customers order more than once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 three orders is cancelled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54864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583680" y="13716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₦7.23M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583680" y="2103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of order value cancelled (1,626 orders)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583680" y="28346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₦7.33M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3566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still pending (1,716 orders)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4297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₦7.11M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5029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of reported revenue is from delivered orders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56692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161 returns are linked to cancelled orders, which should not be possible.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delivery is the top reason for returns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56692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675120" y="146304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Only 12.22% of shipments arrive with no delay, and 39% are 5 or more days late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Delay is network-wide: every city averages 3.47 to 3.64 days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Best warehouses: W02, W11 and W01. Weakest: W05, W09 and W03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Return rate is 9.46% of orders, and is similar across all three categories</a:t>
            </a:r>
            <a:endParaRPr lang="en-US" sz="1600" dirty="0"/>
          </a:p>
        </p:txBody>
      </p:sp>
      <p:sp>
        <p:nvSpPr>
          <p:cNvPr id="5" name="caveat card"/>
          <p:cNvSpPr/>
          <p:nvPr/>
        </p:nvSpPr>
        <p:spPr>
          <a:xfrm>
            <a:off x="6675120" y="4937760"/>
            <a:ext cx="4937760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0" y="49834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Return rates by product are estimates: the Returns data has no ProductID.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recommendations</a:t>
            </a:r>
            <a:endParaRPr lang="en-US" sz="3400" dirty="0"/>
          </a:p>
        </p:txBody>
      </p:sp>
      <p:sp>
        <p:nvSpPr>
          <p:cNvPr id="3" name="recommendation card 1"/>
          <p:cNvSpPr/>
          <p:nvPr/>
        </p:nvSpPr>
        <p:spPr>
          <a:xfrm>
            <a:off x="548640" y="1371600"/>
            <a:ext cx="3566160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rec circle 1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00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a delivery SLA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860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On-time is 12.22%. Review carriers and report weekly.</a:t>
            </a:r>
            <a:endParaRPr lang="en-US" sz="1400" dirty="0"/>
          </a:p>
        </p:txBody>
      </p:sp>
      <p:sp>
        <p:nvSpPr>
          <p:cNvPr id="8" name="recommendation card 2"/>
          <p:cNvSpPr/>
          <p:nvPr/>
        </p:nvSpPr>
        <p:spPr>
          <a:xfrm>
            <a:off x="4297680" y="1371600"/>
            <a:ext cx="3566160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rec circle 2"/>
          <p:cNvSpPr/>
          <p:nvPr/>
        </p:nvSpPr>
        <p:spPr>
          <a:xfrm>
            <a:off x="4526280" y="16002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1600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 cancellations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2860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32.5% of orders cancelled. Capture reasons, target under 20%.</a:t>
            </a:r>
            <a:endParaRPr lang="en-US" sz="1400" dirty="0"/>
          </a:p>
        </p:txBody>
      </p:sp>
      <p:sp>
        <p:nvSpPr>
          <p:cNvPr id="13" name="recommendation card 3"/>
          <p:cNvSpPr/>
          <p:nvPr/>
        </p:nvSpPr>
        <p:spPr>
          <a:xfrm>
            <a:off x="8046720" y="1371600"/>
            <a:ext cx="3566160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rec circle 3"/>
          <p:cNvSpPr/>
          <p:nvPr/>
        </p:nvSpPr>
        <p:spPr>
          <a:xfrm>
            <a:off x="8275320" y="16002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1600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the pending backlog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2860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1,716 orders pending. Add an ageing report and escalation rule.</a:t>
            </a:r>
            <a:endParaRPr lang="en-US" sz="1400" dirty="0"/>
          </a:p>
        </p:txBody>
      </p:sp>
      <p:sp>
        <p:nvSpPr>
          <p:cNvPr id="18" name="recommendation card 4"/>
          <p:cNvSpPr/>
          <p:nvPr/>
        </p:nvSpPr>
        <p:spPr>
          <a:xfrm>
            <a:off x="548640" y="3657600"/>
            <a:ext cx="3566160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rec circle 4"/>
          <p:cNvSpPr/>
          <p:nvPr/>
        </p:nvSpPr>
        <p:spPr>
          <a:xfrm>
            <a:off x="777240" y="38862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3886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Restock low lines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5720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264 lines under 100 units. Set reorder points.</a:t>
            </a:r>
            <a:endParaRPr lang="en-US" sz="1400" dirty="0"/>
          </a:p>
        </p:txBody>
      </p:sp>
      <p:sp>
        <p:nvSpPr>
          <p:cNvPr id="23" name="recommendation card 5"/>
          <p:cNvSpPr/>
          <p:nvPr/>
        </p:nvSpPr>
        <p:spPr>
          <a:xfrm>
            <a:off x="4297680" y="3657600"/>
            <a:ext cx="3566160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rec circle 5"/>
          <p:cNvSpPr/>
          <p:nvPr/>
        </p:nvSpPr>
        <p:spPr>
          <a:xfrm>
            <a:off x="4526280" y="38862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628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166360" y="3886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return causes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5720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Late delivery, wrong item and damage are near-equal. Add pick checks and better packaging.</a:t>
            </a:r>
            <a:endParaRPr lang="en-US" sz="1400" dirty="0"/>
          </a:p>
        </p:txBody>
      </p:sp>
      <p:sp>
        <p:nvSpPr>
          <p:cNvPr id="28" name="recommendation card 6"/>
          <p:cNvSpPr/>
          <p:nvPr/>
        </p:nvSpPr>
        <p:spPr>
          <a:xfrm>
            <a:off x="8046720" y="3657600"/>
            <a:ext cx="3566160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rec circle 6"/>
          <p:cNvSpPr/>
          <p:nvPr/>
        </p:nvSpPr>
        <p:spPr>
          <a:xfrm>
            <a:off x="8275320" y="38862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7532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8915400" y="3886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 suppliers to data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5720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 SupplierID to Products and Shipments, then build a scorecard.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Six of twelve recommendations shown. The full list is in the executive report.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business impact</a:t>
            </a:r>
            <a:endParaRPr lang="en-US" sz="3400" dirty="0"/>
          </a:p>
        </p:txBody>
      </p:sp>
      <p:sp>
        <p:nvSpPr>
          <p:cNvPr id="3" name="impact card 1"/>
          <p:cNvSpPr/>
          <p:nvPr/>
        </p:nvSpPr>
        <p:spPr>
          <a:xfrm>
            <a:off x="548640" y="1371600"/>
            <a:ext cx="3566160" cy="3017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and returns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Better on-time delivery should cut late-delivery returns, the largest return reason at 37%.</a:t>
            </a:r>
            <a:endParaRPr lang="en-US" sz="1500" dirty="0"/>
          </a:p>
        </p:txBody>
      </p:sp>
      <p:sp>
        <p:nvSpPr>
          <p:cNvPr id="6" name="impact card 2"/>
          <p:cNvSpPr/>
          <p:nvPr/>
        </p:nvSpPr>
        <p:spPr>
          <a:xfrm>
            <a:off x="4297680" y="1371600"/>
            <a:ext cx="3566160" cy="3017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554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realisation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19456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Fewer cancellations and a shorter backlog move more of the ₦14.44M towards delivered. Recovering 25% of cancelled value would add about ₦1.8M (illustrative).</a:t>
            </a:r>
            <a:endParaRPr lang="en-US" sz="1500" dirty="0"/>
          </a:p>
        </p:txBody>
      </p:sp>
      <p:sp>
        <p:nvSpPr>
          <p:cNvPr id="9" name="impact card 3"/>
          <p:cNvSpPr/>
          <p:nvPr/>
        </p:nvSpPr>
        <p:spPr>
          <a:xfrm>
            <a:off x="8046720" y="1371600"/>
            <a:ext cx="3566160" cy="3017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554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and cost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19456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Reorder points reduce stock-outs, and rebalancing stock and staff reduces holding and handling cost.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663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1206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Add SupplierID, shipment dates and warehouse capacity to the data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Review this dashboard weekly and set targets for the red KPIs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822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03120"/>
            <a:ext cx="7498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SwiftLog has strong, loyal demand.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The biggest gains are operational: on-time delivery, order completion and stock control.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Closing four data gaps will make the next analysis far more precise.</a:t>
            </a:r>
            <a:endParaRPr lang="en-US" sz="2200" dirty="0"/>
          </a:p>
        </p:txBody>
      </p:sp>
      <p:sp>
        <p:nvSpPr>
          <p:cNvPr id="4" name="motif circle"/>
          <p:cNvSpPr/>
          <p:nvPr/>
        </p:nvSpPr>
        <p:spPr>
          <a:xfrm>
            <a:off x="9052560" y="2194560"/>
            <a:ext cx="2377440" cy="23774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0" y="21945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12.22%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time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wiftLog Analytics">
  <a:themeElements>
    <a:clrScheme name="SwiftLog Analytics">
      <a:dk1>
        <a:srgbClr val="1F2937"/>
      </a:dk1>
      <a:lt1>
        <a:srgbClr val="FFFFFF"/>
      </a:lt1>
      <a:dk2>
        <a:srgbClr val="1F3A5F"/>
      </a:dk2>
      <a:lt2>
        <a:srgbClr val="F3F4F6"/>
      </a:lt2>
      <a:accent1>
        <a:srgbClr val="1F3A5F"/>
      </a:accent1>
      <a:accent2>
        <a:srgbClr val="1D9E75"/>
      </a:accent2>
      <a:accent3>
        <a:srgbClr val="EF9F27"/>
      </a:accent3>
      <a:accent4>
        <a:srgbClr val="E24B4A"/>
      </a:accent4>
      <a:accent5>
        <a:srgbClr val="378ADD"/>
      </a:accent5>
      <a:accent6>
        <a:srgbClr val="6B7280"/>
      </a:accent6>
      <a:hlink>
        <a:srgbClr val="378ADD"/>
      </a:hlink>
      <a:folHlink>
        <a:srgbClr val="6B7280"/>
      </a:folHlink>
    </a:clrScheme>
    <a:fontScheme name="SwiftLog Analytic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AnalystLab Africa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SwiftLog Logistics Supply Chain Analytics</dc:title>
  <dc:subject>PptxGenJS Presentation</dc:subject>
  <dc:creator>Olabisi Amusan</dc:creator>
  <cp:lastModifiedBy>Olabisi Amusan</cp:lastModifiedBy>
  <cp:revision>1</cp:revision>
  <dcterms:created xsi:type="dcterms:W3CDTF">2026-10-18T19:06:16Z</dcterms:created>
  <dcterms:modified xsi:type="dcterms:W3CDTF">2026-10-18T19:06:16Z</dcterms:modified>
</cp:coreProperties>
</file>